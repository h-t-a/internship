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abb62bbedd4788" /><Relationship Type="http://schemas.openxmlformats.org/officeDocument/2006/relationships/extended-properties" Target="/docProps/app.xml" Id="R902fe46f08304c47" /><Relationship Type="http://schemas.openxmlformats.org/officeDocument/2006/relationships/officeDocument" Target="/ppt/presentation.xml" Id="R2f89abf532f3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082da98144a7d"/>
  </p:sldMasterIdLst>
  <p:notesMasterIdLst>
    <p:notesMasterId xmlns:r="http://schemas.openxmlformats.org/officeDocument/2006/relationships" r:id="R68629aa16a1542b8"/>
  </p:notesMasterIdLst>
  <p:sldIdLst>
    <p:sldId xmlns:r="http://schemas.openxmlformats.org/officeDocument/2006/relationships" id="256" r:id="R8e34e7e76c8b48db"/>
    <p:sldId xmlns:r="http://schemas.openxmlformats.org/officeDocument/2006/relationships" id="257" r:id="R0f62b5a9d7f04bcb"/>
    <p:sldId xmlns:r="http://schemas.openxmlformats.org/officeDocument/2006/relationships" id="258" r:id="R79f1828df0044e5f"/>
    <p:sldId xmlns:r="http://schemas.openxmlformats.org/officeDocument/2006/relationships" id="259" r:id="Rab000fddd78b43dd"/>
    <p:sldId xmlns:r="http://schemas.openxmlformats.org/officeDocument/2006/relationships" id="260" r:id="Rb0e18c4557b743dc"/>
    <p:sldId xmlns:r="http://schemas.openxmlformats.org/officeDocument/2006/relationships" id="261" r:id="Rf977e30ff55f4f2a"/>
    <p:sldId xmlns:r="http://schemas.openxmlformats.org/officeDocument/2006/relationships" id="262" r:id="R02dd709938b642a9"/>
    <p:sldId xmlns:r="http://schemas.openxmlformats.org/officeDocument/2006/relationships" id="263" r:id="Red4d6cd9c443484c"/>
    <p:sldId xmlns:r="http://schemas.openxmlformats.org/officeDocument/2006/relationships" id="264" r:id="Re941a292e325472a"/>
    <p:sldId xmlns:r="http://schemas.openxmlformats.org/officeDocument/2006/relationships" id="265" r:id="R05d8266e2f6c4ec3"/>
    <p:sldId xmlns:r="http://schemas.openxmlformats.org/officeDocument/2006/relationships" id="266" r:id="Raa0c3f8a6192409c"/>
    <p:sldId xmlns:r="http://schemas.openxmlformats.org/officeDocument/2006/relationships" id="267" r:id="R920db607e26f419a"/>
    <p:sldId xmlns:r="http://schemas.openxmlformats.org/officeDocument/2006/relationships" id="268" r:id="Rd66d1701ce4a4cb4"/>
    <p:sldId xmlns:r="http://schemas.openxmlformats.org/officeDocument/2006/relationships" id="269" r:id="R48a71c2970694306"/>
    <p:sldId xmlns:r="http://schemas.openxmlformats.org/officeDocument/2006/relationships" id="270" r:id="Rf208b1d3709949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df3ec02d44782" /><Relationship Type="http://schemas.openxmlformats.org/officeDocument/2006/relationships/slideMaster" Target="/ppt/slideMasters/slideMaster1.xml" Id="R42e082da98144a7d" /><Relationship Type="http://schemas.openxmlformats.org/officeDocument/2006/relationships/notesMaster" Target="/ppt/notesMasters/notesMaster1.xml" Id="R68629aa16a1542b8" /><Relationship Type="http://schemas.openxmlformats.org/officeDocument/2006/relationships/presProps" Target="/ppt/presProps.xml" Id="R3656ac1a9d044af3" /><Relationship Type="http://schemas.openxmlformats.org/officeDocument/2006/relationships/tableStyles" Target="/ppt/tableStyles.xml" Id="R2cf4072bae314852" /><Relationship Type="http://schemas.openxmlformats.org/officeDocument/2006/relationships/slide" Target="/ppt/slides/slide1.xml" Id="R8e34e7e76c8b48db" /><Relationship Type="http://schemas.openxmlformats.org/officeDocument/2006/relationships/slide" Target="/ppt/slides/slide2.xml" Id="R0f62b5a9d7f04bcb" /><Relationship Type="http://schemas.openxmlformats.org/officeDocument/2006/relationships/slide" Target="/ppt/slides/slide3.xml" Id="R79f1828df0044e5f" /><Relationship Type="http://schemas.openxmlformats.org/officeDocument/2006/relationships/slide" Target="/ppt/slides/slide4.xml" Id="Rab000fddd78b43dd" /><Relationship Type="http://schemas.openxmlformats.org/officeDocument/2006/relationships/slide" Target="/ppt/slides/slide5.xml" Id="Rb0e18c4557b743dc" /><Relationship Type="http://schemas.openxmlformats.org/officeDocument/2006/relationships/slide" Target="/ppt/slides/slide6.xml" Id="Rf977e30ff55f4f2a" /><Relationship Type="http://schemas.openxmlformats.org/officeDocument/2006/relationships/slide" Target="/ppt/slides/slide7.xml" Id="R02dd709938b642a9" /><Relationship Type="http://schemas.openxmlformats.org/officeDocument/2006/relationships/slide" Target="/ppt/slides/slide8.xml" Id="Red4d6cd9c443484c" /><Relationship Type="http://schemas.openxmlformats.org/officeDocument/2006/relationships/slide" Target="/ppt/slides/slide9.xml" Id="Re941a292e325472a" /><Relationship Type="http://schemas.openxmlformats.org/officeDocument/2006/relationships/slide" Target="/ppt/slides/slide10.xml" Id="R05d8266e2f6c4ec3" /><Relationship Type="http://schemas.openxmlformats.org/officeDocument/2006/relationships/slide" Target="/ppt/slides/slide11.xml" Id="Raa0c3f8a6192409c" /><Relationship Type="http://schemas.openxmlformats.org/officeDocument/2006/relationships/slide" Target="/ppt/slides/slide12.xml" Id="R920db607e26f419a" /><Relationship Type="http://schemas.openxmlformats.org/officeDocument/2006/relationships/slide" Target="/ppt/slides/slide13.xml" Id="Rd66d1701ce4a4cb4" /><Relationship Type="http://schemas.openxmlformats.org/officeDocument/2006/relationships/slide" Target="/ppt/slides/slide14.xml" Id="R48a71c2970694306" /><Relationship Type="http://schemas.openxmlformats.org/officeDocument/2006/relationships/slide" Target="/ppt/slides/slide15.xml" Id="Rf208b1d37099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047360e91f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71d46e9104135" /><Relationship Type="http://schemas.openxmlformats.org/officeDocument/2006/relationships/notesMaster" Target="/ppt/notesMasters/notesMaster1.xml" Id="R5b3023bb1643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d95ec57424114" /><Relationship Type="http://schemas.openxmlformats.org/officeDocument/2006/relationships/notesMaster" Target="/ppt/notesMasters/notesMaster1.xml" Id="R7144b4e03eb740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161829d9fc42b0" /><Relationship Type="http://schemas.openxmlformats.org/officeDocument/2006/relationships/notesMaster" Target="/ppt/notesMasters/notesMaster1.xml" Id="R16b0e89eedbf4b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93cbbf7fc44570" /><Relationship Type="http://schemas.openxmlformats.org/officeDocument/2006/relationships/notesMaster" Target="/ppt/notesMasters/notesMaster1.xml" Id="Raea53c2e498047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a483671f104db5" /><Relationship Type="http://schemas.openxmlformats.org/officeDocument/2006/relationships/notesMaster" Target="/ppt/notesMasters/notesMaster1.xml" Id="R3588a9930cde4a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903f8664194738" /><Relationship Type="http://schemas.openxmlformats.org/officeDocument/2006/relationships/notesMaster" Target="/ppt/notesMasters/notesMaster1.xml" Id="R1a7cb7135f024e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30c8f3af2945e9" /><Relationship Type="http://schemas.openxmlformats.org/officeDocument/2006/relationships/notesMaster" Target="/ppt/notesMasters/notesMaster1.xml" Id="Ra1092ac1254f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5af09636c4a74" /><Relationship Type="http://schemas.openxmlformats.org/officeDocument/2006/relationships/notesMaster" Target="/ppt/notesMasters/notesMaster1.xml" Id="Rc85691a2baa74c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030fc57a8d4dd6" /><Relationship Type="http://schemas.openxmlformats.org/officeDocument/2006/relationships/notesMaster" Target="/ppt/notesMasters/notesMaster1.xml" Id="R0a5f5413fec445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b1d8c8a9bf477e" /><Relationship Type="http://schemas.openxmlformats.org/officeDocument/2006/relationships/notesMaster" Target="/ppt/notesMasters/notesMaster1.xml" Id="R46e01f8c0e094d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79c6b141a747d0" /><Relationship Type="http://schemas.openxmlformats.org/officeDocument/2006/relationships/notesMaster" Target="/ppt/notesMasters/notesMaster1.xml" Id="R31df105cae944e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4a2f42ecfb4df8" /><Relationship Type="http://schemas.openxmlformats.org/officeDocument/2006/relationships/notesMaster" Target="/ppt/notesMasters/notesMaster1.xml" Id="R51b6b06ab40a41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700541de6045c8" /><Relationship Type="http://schemas.openxmlformats.org/officeDocument/2006/relationships/notesMaster" Target="/ppt/notesMasters/notesMaster1.xml" Id="Re1e92e7dbf4140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4485ee9dc9461e" /><Relationship Type="http://schemas.openxmlformats.org/officeDocument/2006/relationships/notesMaster" Target="/ppt/notesMasters/notesMaster1.xml" Id="R6d7a423fa4a24f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ee3bb4f5d24110" /><Relationship Type="http://schemas.openxmlformats.org/officeDocument/2006/relationships/notesMaster" Target="/ppt/notesMasters/notesMaster1.xml" Id="R529645f416e046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ef8b7e4ad41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ecc4442156441c" /><Relationship Type="http://schemas.openxmlformats.org/officeDocument/2006/relationships/slideLayout" Target="/ppt/slideLayouts/slideLayout1.xml" Id="R21f5b250377d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5b250377d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a4e641e3d4acb" /><Relationship Type="http://schemas.openxmlformats.org/officeDocument/2006/relationships/notesSlide" Target="/ppt/notesSlides/notesSlide1.xml" Id="R26d7b4fbb456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fc76f517e4094" /><Relationship Type="http://schemas.openxmlformats.org/officeDocument/2006/relationships/notesSlide" Target="/ppt/notesSlides/notesSlide2.xml" Id="R6ee39a31b65a41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e6ee3209b4d5f" /><Relationship Type="http://schemas.openxmlformats.org/officeDocument/2006/relationships/notesSlide" Target="/ppt/notesSlides/notesSlide3.xml" Id="Rf97504498cfa44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9852474464c4b" /><Relationship Type="http://schemas.openxmlformats.org/officeDocument/2006/relationships/notesSlide" Target="/ppt/notesSlides/notesSlide4.xml" Id="R40af4ea7894f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ddf90db5e43df" /><Relationship Type="http://schemas.openxmlformats.org/officeDocument/2006/relationships/notesSlide" Target="/ppt/notesSlides/notesSlide5.xml" Id="Rfaa0cc90643a46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444fc415648dd" /><Relationship Type="http://schemas.openxmlformats.org/officeDocument/2006/relationships/notesSlide" Target="/ppt/notesSlides/notesSlide6.xml" Id="R380aac2269544e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e9b59d6574c3c" /><Relationship Type="http://schemas.openxmlformats.org/officeDocument/2006/relationships/notesSlide" Target="/ppt/notesSlides/notesSlide7.xml" Id="Ra1865e82409a45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7de90ccb94ea2" /><Relationship Type="http://schemas.openxmlformats.org/officeDocument/2006/relationships/notesSlide" Target="/ppt/notesSlides/notesSlide8.xml" Id="R3858ae5b4e9443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082ece1774687" /><Relationship Type="http://schemas.openxmlformats.org/officeDocument/2006/relationships/notesSlide" Target="/ppt/notesSlides/notesSlide9.xml" Id="R286950d94cb849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db16a0e4a4ae5" /><Relationship Type="http://schemas.openxmlformats.org/officeDocument/2006/relationships/notesSlide" Target="/ppt/notesSlides/notesSlide10.xml" Id="R3e29760d972947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fa17a4fdd4030" /><Relationship Type="http://schemas.openxmlformats.org/officeDocument/2006/relationships/notesSlide" Target="/ppt/notesSlides/notesSlide11.xml" Id="R9cc9f5a848ab43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f7a2e83b744c7" /><Relationship Type="http://schemas.openxmlformats.org/officeDocument/2006/relationships/notesSlide" Target="/ppt/notesSlides/notesSlide12.xml" Id="R51ba752b240648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6e83bfcec4e88" /><Relationship Type="http://schemas.openxmlformats.org/officeDocument/2006/relationships/notesSlide" Target="/ppt/notesSlides/notesSlide13.xml" Id="R751feed1c17446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92f808d084e4c" /><Relationship Type="http://schemas.openxmlformats.org/officeDocument/2006/relationships/notesSlide" Target="/ppt/notesSlides/notesSlide14.xml" Id="R50ddb4ea997c4d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45236ca2e4646" /><Relationship Type="http://schemas.openxmlformats.org/officeDocument/2006/relationships/notesSlide" Target="/ppt/notesSlides/notesSlide15.xml" Id="Rc1e7e0757bd149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5D15C-673B-48DD-80FA-23B4A8B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INTERNAL ENGINEERING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2FC04-B6CA-4BC6-8665-C0EF770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Team Git Guideline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7D180-4023-42F3-9275-1F75A019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Developer &amp; Maintainer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44C19-7A59-4B0B-A119-2D99E9F5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F6530-BE57-40F8-ABAA-AA02117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528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Maintainers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FAD7A-9ACD-4AA0-87E4-4C2DBCA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528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Releases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99407-312F-4EE9-9C36-95F10A2A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06680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13335">
            <a:solidFill>
              <a:srgbClr val="1D4E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F86B0-F4D2-4757-B7AD-E368714C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Pull / Merge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D49A7-873B-4D56-ADE6-094CA4BE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040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8350F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+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35469-3A0F-4DA0-83C4-A32A4FA3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67200"/>
            <a:ext cx="295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C0519"/>
          </a:solidFill>
          <a:ln xmlns:a="http://schemas.openxmlformats.org/drawingml/2006/main" w="1333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Release branch</a:t>
            </a:r>
          </a:p>
        </p:txBody>
      </p:sp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753475" y="1619250"/>
            <a:ext cx="7620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6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8753475" y="2686050"/>
            <a:ext cx="7620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753475" y="3752850"/>
            <a:ext cx="7620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D3517-0730-437D-A214-DF52C34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Clean branches, clear reviews, safer releases.</a:t>
            </a:r>
          </a:p>
        </p:txBody>
      </p:sp>
    </p:spTree>
    <p:extLst>
      <p:ext uri="{BB962C8B-B14F-4D97-AF65-F5344CB8AC3E}">
        <p14:creationId xmlns:p14="http://schemas.microsoft.com/office/powerpoint/2010/main" val="2112679022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87FE4-61D2-4D97-8F87-09459C92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D7F86-ABB0-4294-B45B-FA0D4726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Why We Need Git Guidelines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F710C-0371-4576-8B28-FDB8EBC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FE426-9D18-4094-8235-F71325A8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5D1C4-AD53-4AFD-85EE-F35CD0E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0082D-E704-479F-9241-355501D4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2DC1A-6E48-42D7-9F08-4B05578C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Consistent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512AF-5AA1-4B79-B9A1-0AFA498C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Everyone starts, submits, reviews, and releases work the same 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F24E5-1257-40E6-BAEB-8F3DC0E2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049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094C3-84CA-4C4B-9B62-D31000F6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09903-A324-4F60-983D-D46D8C75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Fewer conflicts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3B4D5-A07B-4070-8243-B009B9CC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574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Branch isolation and early coordination reduce expensive merge conflicts.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B70D8-BF30-438A-8433-31D5ED67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049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FC3DE-B0C2-46C9-8488-42F0B2DA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049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F96AB-9EE7-437C-8857-65A82ABA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Code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9CDE1-F9C5-4AD8-98E2-C1C8773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Reviews, tests, and pipelines protect the default branches.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4E423-811F-491D-993C-AF9BC86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CD66F-6D01-4689-8EE4-25689116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76BF4-F304-4DCE-9BC8-203B7F1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Release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6B6A6-EE77-4719-8A93-2039498E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UAT, release, prod, and hotfix rules keep deployments traceable.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CBA100-19D0-4FC1-9468-EACBDB2C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29000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F8D3F-F5C2-47D2-82A0-57B5F3A9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290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34E9D-E1B9-4272-8A0E-35C4DEC1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Auditability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97E2-EA0A-40F0-BB0E-30F8AB82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81450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Ticket IDs, version tags, and release notes make changes explainable.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A05B6-C9E0-4678-8F87-237F5F8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D698C-0C20-4D78-AD59-EF09E148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D271D4-919D-4FBA-A5AF-7638501B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Goal: make the safe workflow the easiest workflow.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372D9-68CA-499B-946A-D68F2523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3C1B0-9C41-407D-B9A1-EE1BD0AD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5533679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7B158-73E1-4901-8755-83CF2D81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E988A-9B64-475A-85AA-352A387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Team Roles: Developer vs Maintainer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D52F0-737A-477C-97DC-8F0E1240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A71A2-8F4F-4DFC-849E-E67850E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34592-28D9-439F-A2F8-1CA6E0C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00062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7F6B2-5F38-49D9-BD4F-37257C68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07B94-AFF2-459A-8663-3DEEC0CD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Developer / Contributor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7C712-4567-4F42-A8C8-0CA2C019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815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Create one branch per ticket or task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Commit focused changes with clear messages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Push branch and open a Pull/Merge Request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Respond to review comments quickly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Never push directly to protected branches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7E9F3-D386-4A22-92CF-F2BA6C9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500062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BFF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5EF17-F3A2-48BD-859F-29B65254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2875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D5BD7-4299-4BE8-B443-4A561DA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00200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Maintainer / 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327BF-FD78-4D89-9A32-1ED8282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81200"/>
            <a:ext cx="45815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Review requirements, design, code, and tests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Verify pipeline/build status before merge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Provide binding approval for Pull/Merge Requests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Manage release, UAT, prod, and hotfix branches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Own branch protections, hooks, and CI/CD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14051-9F58-4DC5-85FE-C2198445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6197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8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Shared rule: protected branches receive reviewed changes only.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637A3-97C0-40CE-B767-8CB538D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34335-F0D6-43E3-BED8-14AE0368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4102865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447C8F-59FE-41ED-963E-76AB3FC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BRANCHING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ECBDA-A616-4D43-A2F0-B63D2ADD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Branch Naming Convention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54EA7-0413-4040-8024-F40A48D5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B2D4A-458A-49B9-96EA-63FDAF74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0B179-CCD8-4E10-8A87-8EE04C18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Branch prefix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F00DB-F301-463F-B004-25FFA46E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28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Usage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1DFCE-367F-4E5C-8C75-FBAC0E3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8DED3-0BEF-423A-B2D8-E1B7A548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feature/&lt;ticket-id&gt;-&lt;description&gt;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848F3-C502-4140-A62B-61A83CEA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478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New feature development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5EEC3-81E8-46D7-9B7E-F9A294B6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478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feature/PROJ-123-oauth2-login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5FEA1-9C4D-4A7C-8D05-492868F9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bugfix/&lt;ticket-id&gt;-&lt;description&gt;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15B5E-2C0A-403F-912C-75BD73A8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955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Fixing a tracked bug or issue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91661-9B12-454A-9CC3-AE0CB974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bugfix/PROJ-456-null-pointer-fix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75962-DC6E-478C-9CED-611672E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hotfix/&lt;ticket-id&gt;-&lt;description&gt;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8647E-48B4-41F1-A0E4-A0FACA4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432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Urgent production bugfix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527C4-8614-411B-9AB1-9F489CDA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hotfix/PROJ-789-critical-mem-leak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FB9FF-A06F-4826-8880-13AA90D4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refactor/&lt;ticket-id&gt;-&lt;description&gt;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57705-0855-4946-ABF2-B3B389A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909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Code cleanup or reorganization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C58E6-862B-41BA-A1D8-D212F34C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909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refactor/PROJ-101-rest-template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EC4DD-F952-4DB1-A0B9-B7CB35BC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docs/&lt;description&gt;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931E5-3FC4-4693-B051-F841CFC4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386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Documentation-only updates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DECA7-137B-4393-95E0-93A62C5C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38650"/>
            <a:ext cx="438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docs/update-api-spec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89CC5-3BD0-42EE-993E-63D5D96E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668000" cy="365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ED2E2-94BC-46DC-A2BE-C3445E87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4B74E-A62A-454B-954F-8A524467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C28E5-09D7-4511-95F3-AE340636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Rule: one ticket, one branch, one clear purpose.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7C880-2733-4F13-AE73-6D40FC0E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4EBC2-CDFE-4C41-A47D-1838572E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9699444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F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E9123A-070D-4560-B75D-7F021D3B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DEVELOPER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85A18-2911-401B-819B-A54C312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Developer Daily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0119B-E10A-4DA2-B9AE-9D5AE21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7D55F-B008-4190-BF9C-CB23A3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B89FA-0194-4E86-B429-D3CC7E7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F00A5-28EA-43BB-8B02-BB5F0094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811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Update 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8978C-872E-4046-936B-3BD72594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811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 branch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9931F-C63D-4E07-91CD-0ACC9E88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811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Commit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2A7CC-E4B9-4C1B-B2B9-4635C007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811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333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Push + PR/MR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52700" y="1895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1895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19900" y="1895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953500" y="18954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B9A10-4452-4457-9971-9A2F528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0210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936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main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-b feature/PROJ-123-login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make code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status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add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commit -m "PROJ-123 add login feature"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-u origin feature/PROJ-123-login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8039F-1F89-4CB4-8603-8857942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4638A-B25C-4898-8CB0-95BB3508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9194087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6FC90-AEA4-43CF-B308-29CAA3E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DEVELOPER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14997-9C91-49B3-AD63-C56B838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Safe Commit Practices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A87B-54EE-4152-A3D2-F59B29BE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65889-F3AE-4B4D-BFE8-DF038749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3642F-5BD9-4CD6-B3E3-92BF1DFA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47625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DAF22-30B1-4426-A728-6A38077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7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C4CC5-EB9C-4AEB-8678-F0B21580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Before committing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FA9E9-7D7B-4C83-9CD5-C18EBD07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3434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Review the exact files you changed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Keep commits small and logical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Use the ticket ID in the commit message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Never commit secrets, tokens, keys, or .env files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Push daily to back up progress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FAAFF-B6B3-4485-876C-2AEBFD9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51435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diff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add &lt;file-name&gt;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or only when intended: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add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commit -m "PROJ-123 short clear message"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314C0-0ECF-4500-8F0D-6AF17E9C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F7606-E289-412E-9B15-15F6442E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13976-510B-47D1-90F6-0A08C544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If git status surprises you, stop and inspect before committing.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D4D3A-A761-420C-9E8D-3BA26790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35119-13A1-4E4D-A889-AC382CC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2804046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E41DA-08F0-44BB-AC23-046D8736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REVIEW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F2FCC-C941-4277-AC08-DB323AFD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Pull / Merge Request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ACEBA-AF00-4448-8709-4F843063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359B3-7E3D-4115-8BFF-62E00F2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CD714-31B3-4BAF-94F9-7F9FEE68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Developer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18F65-555A-4E64-9309-FF199029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Push branch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AF5F0-0A56-43DC-915D-0448768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Open PR/MR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22EF2-F33F-4CE2-AA44-749A9BDD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1925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Maintainer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F6989-DC79-4A6E-BD9F-74ED73C8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333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Tests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737C8-E7E1-4E37-AC2F-69C31D83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19250"/>
            <a:ext cx="138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333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Approve + merge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85975" y="1952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81425" y="1952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76875" y="1952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72325" y="1952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67775" y="19526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D1464-0F78-4493-9C2D-76DF3A2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4686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-u origin feature/PROJ-123-login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then open Pull/Merge Request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target: main or develop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61D31-661E-49A4-B913-AE72D2D7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4095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C5182-9A20-4501-93CE-5A37A98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76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33AD7-E2F0-4B7D-B743-ABCADD2E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Merge requirements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0628F-5F77-4C32-944D-1C34BDA3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3676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At least one approving review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Pipeline/build must pass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Tests must be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9C6E4-590D-4597-B0B3-B2820B3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74B02-D835-44D3-BDEF-346A4047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2C15B-E0DE-44BD-90A5-E166F5B1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After merge, delete the branch and create a new branch for any follow-up fixes.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1EA42-B1B1-4BDD-88BB-D0254BD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1260C-DCE7-46B3-83DE-4F94766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7880709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48315-4E16-4A67-B3AA-D49D3C6E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MAINTAINER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5B7A2-CC63-4016-BBA5-3FD118DC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Maintainer Review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F8FD6-915B-4B48-9DDC-100E8453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C77CF-8520-4115-BCDF-2F5E5930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81BED-3822-445A-8BA0-E54DF9E7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7625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C2848-A526-4E48-A644-D6DEAE10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762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47ABE-445B-48C2-B510-F5D9551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Code and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2A367-9EEA-4D84-B1CB-F7C0D730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4343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Branch name follows convention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Scope matches the ticket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No unrelated files or hidden formatting churn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No secrets or local-only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A54D9-FFEA-4EB8-AB24-D727254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7625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675B8-A988-497B-BCF9-8493EFE6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762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8614A-01A2-46C9-8CFA-FD9FBE59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Quality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669D6-B91C-4393-BBD8-CF202A6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81200"/>
            <a:ext cx="4343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Tests are present or explicitly justified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Pipeline/build passed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Review comments resolved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35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Release impact is understood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B13D5-366E-47D6-AA1E-4B7DF92E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DB4A3-51AC-4B8D-9028-7F7D5F50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244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BEE02-41A8-4153-80F2-B6BDA68D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Merge</a:t>
            </a:r>
          </a:p>
        </p:txBody>
      </p: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286250" y="5381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000875" y="5381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A61F2-BE39-45DF-ADFD-2CDEF170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824E4-EE49-4223-B23A-75B00B3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3318623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7F524A-8E2D-4EA7-A17F-C5B15AE6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344DA-59D6-45B1-B9F5-02DAB3DC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Conflict Prevention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CC7BA-1033-40F3-B0E5-CEDCD3D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E4760-1017-48C1-83FE-EDF3E2E3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26170-42C1-4F03-A6E2-92B8EFB7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EED77-F2E1-4ED3-8952-16E7CF28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144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73CFC-5F64-4BEE-8907-6CA6F0AA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05617-A3F1-4052-BA90-6435892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954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 branch per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01CEE-9D8B-4023-8D30-5061DD11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430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 not combine unrelated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E44A9-EDD7-413E-AA83-70EB6E58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811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102ED-76C8-4BD7-BC68-B65D37ED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144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90692-C07E-4400-9250-95F7C927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4947E-5CCD-4F5E-BF50-5E34B3A5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954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Pull main before branching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A57F9-A327-49A8-8C8B-8B034FF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430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Start from the latest target branch.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4D44A-2056-452F-986D-3137DB8B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EA346-26F3-43E7-A741-823DD255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35252-0117-4D0A-BD22-E39096E1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13D6E-98DB-414F-9E35-61C0278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Coordinate shared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79852-7298-4852-8201-69D0263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812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Discuss schemas, config, and core utilities first.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FF4B0-64EA-4A86-9E85-A486850A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193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19DB2-E725-4C1C-8D37-34F91535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526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46F7CF-754F-42D2-BBEF-B65BCB4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30A80-2561-48CE-BAF6-75543896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Keep branches focused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B930B-65C0-4B2B-9D85-2F7C2844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812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Avoid mega-branches and unrelated churn.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D8A9E-E223-48BE-8896-3ADC8106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F8D7A-4D7D-449C-A721-E5F22E1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F9AB8-69EC-478F-B83C-894214F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A1FD9-888A-45B2-A1D7-A1ED802A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Commit often, push daily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66D44-2865-4A1D-9C28-AF74420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Back up progress and make review easier.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35CBB-A6DD-4560-B5E1-5D67BFF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861189-8EC4-49A7-9BA6-F8833C45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90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5A2677-0E53-47ED-AAF7-291A8456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48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B8F559-93FE-40EA-AAB3-77EB2D4B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Delete merged branches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EAF7D-6A02-41A6-87AD-34B47DC7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Create a new branch for follow-up fixes.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2D7E10-799B-4243-B876-27005C8F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D4AFCF-1E8F-4C1F-B53D-59F4CC6C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B7FB90-70D3-4815-89BC-A7654D09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F2BAD8-3D9A-4D19-A786-F382BAFA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0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Require peer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347C5B-41EB-4A0F-A7F7-2DAB1D3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 unreviewed merges to default branches.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7E4338-2704-4A65-B4D4-3232E33D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23BA08-961D-48C7-8F7E-DE8C0A1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290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EB34AE-0888-404F-ABF4-C26C54E7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D2668E-FF67-4AC1-8D0F-47609BD6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00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Never commit secrets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5E14B4-0E8C-4193-9F3A-D2AD35AE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Check status and diff before commit.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A28178-9463-4656-ABB6-1AC250A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49CE22-06C6-4AB2-B422-C885FE8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0C9E8F-7ED9-48F0-A606-21DA4E2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7DC739-DA16-403C-BE45-9D4C1C9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Protect workspace config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569E03-3F2B-4D01-94B3-9B56BF1E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Coordinate changes to hooks and scripts.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FF89CD-F858-49C5-AA44-E9800BF1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3392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4FEB30-CD41-421C-9D43-6DA85A6A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672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6C0B39-0D0C-4754-92EB-5E30006E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24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5A0024-ABAC-46B1-89FD-B544799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482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 not work on protected branches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100D3B-4EFC-4DA7-A4DC-1507FD42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Confirm branch before modifying files.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B304B9-E1FE-4E34-B3AE-68FB5F01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933E44-36F8-4DCF-ADC7-A397B675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3414909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F91DB3-9EBE-4AD3-BB3D-A61B2868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D4355-98B9-4350-B434-0E452CBE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Branch Lifecycle and Protected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113BF-C9B7-428A-A7E0-E05578AE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D1571-6675-4354-B198-012CFFC4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B7D05-47EF-477E-9CE3-AFC48A89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 task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86026-5974-42B1-A34E-8C6D9627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04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Open PR/MR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A3141-FF4D-4413-9096-922DA51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Merge to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BC5F4-D871-4A97-9005-EF4FB3B9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04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333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Delete branch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1809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34000" y="1809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05750" y="1809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1EDD-6A3C-43F1-8BD9-372EBCE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762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main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branch -d feature/PROJ-123-login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--delete feature/PROJ-123-login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A2F8-10F1-4185-8386-DF1969E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210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8D20C-C267-4896-83A9-768D345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952F6-E4B2-459D-9A80-BEA5798F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1940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Protected branch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D00EE-F487-42E1-888B-F77133B8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3790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Allowed to merge: Maintainers / Tech Leads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Allowed to push: no one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Required: approval plus passing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6C37B-51ED-4984-9373-4BF3DF1A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0D502-DC53-4B40-A4CA-D3255031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45C53-DA7D-49C3-93DD-24533D55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After a branch is merged, do not reuse it for new fixes.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FA881-CF9B-44DC-B6E1-2EFEA5E0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55D12-AC7E-4E07-8B58-C308DFBC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1803657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4037B-C52C-4FEB-8CC5-A74078DE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RELEASE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4DA1E-4214-4701-84DA-B360A10A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UAT and Production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B37BF-1C28-4BFA-8C56-DA1036C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3954F-91DB-4CC4-B68A-58083457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3BD58-585A-4C48-AAE5-188D104E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Feature branches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31130-6CB7-431D-9BFB-996C4588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/ 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4C8AE-6D3C-4B5A-9B4E-5106C01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2D51A-0300-47A6-B51F-A9DA61DC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333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52750" y="1866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1866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96250" y="1866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02C6E-5155-4343-BFE7-855FE34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971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1DA14-D8BD-46F5-BFD5-DB58F823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0A182-22E3-44E9-B9B6-F6BF15EF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UAT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0159E-5DAA-47F9-BAB9-BDEE5527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2552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Freeze new features during UAT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Fix bugs in main first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Merge or cherry-pick fixes into uat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F4391-6406-48B4-ADA0-DE076D33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9718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CCC42-8E40-4B28-90F8-F91D0AF0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54143-1300-4F2D-A798-F72E4BC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Production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DD785-6472-4EFA-8D33-19301F8D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2552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Merge uat into prod after sign-off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Tag the release version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Direct commits to prod are prohibited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BA33B-483A-455B-AF93-548E26B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327660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961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uat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uat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merge main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uat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prod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prod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merge uat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tag v1.2.0.1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prod --tags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718FB-7DEA-4A89-A2B3-5E0AA2C9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E0C2B-BDBD-4694-BA2E-E25A382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7411504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78B8D3-1151-4E8F-B30E-F2CF04D1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RELEASE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46ED2-9C4F-4B21-8631-DFA6BAA2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Release Branches, Packaging, and Versioning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B5CC5-E7CA-4BDE-86C2-5C986E57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6DA9E-5F9E-4C44-8E69-CC063D1B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04477-0522-4572-ACAF-A2A2134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0659A-6B29-4386-9672-32450BCC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7720B-D232-40E1-98E6-EF12747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Release branch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2B667-8645-474C-A178-F648958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Create release/x.y.z from main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No new features after branch creation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Merge release bug fixes back into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9A0A4-A304-4F7F-93A2-A8C88CBF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0970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main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-b release/1.2.0.0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-u origin release/1.2.0.0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97E63-083B-4018-9DB5-8AB0D54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09700"/>
            <a:ext cx="3238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8EA96-4B17-4778-8664-DF12C3ED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097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C4ED6-6C74-46BF-8F9C-4FFB5B9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Versioning standard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220C7-D544-4416-888C-BEB5854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Use Major.Minor.Patch.BuildNumber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Example: 1.0.0.12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Increment each UAT release for auditability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DC893-D94C-49F9-9D19-EB996759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4953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9CF98-D2DA-4714-9856-598A709C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E9F49-B5E8-44A2-A770-DFE1706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Before compiling a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B7F05-E899-4A3A-96FB-D6B14E4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533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Confirm clean git status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Update packaging versions such as pom.xml, package.json, or Gradle files</a:t>
            </a:r>
          </a:p>
          <a:p xmlns:a="http://schemas.openxmlformats.org/drawingml/2006/main">
            <a:pPr marL="18" indent="-11" algn="l">
              <a:lnSpc>
                <a:spcPct val="112000"/>
              </a:lnSpc>
              <a:spcAft>
                <a:spcPts val="4"/>
              </a:spcAft>
              <a:buNone/>
              <a:defRPr sz="12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Run clean build and prepare release 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A2ED7-4750-4AA8-B56C-2D598A4A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925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example build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mvn clean package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do not commit /target, /dist, /build, zip, tar, or binaries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74455-91A0-418F-AAAA-9D1470D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4772D-8616-4472-A731-2C0821B4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9481761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FDC000-A099-4CBE-AAF6-5C86DFB0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18968-0427-493E-B3B8-6A4FD34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Hotfix Workflow for Production Incidents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C0000-7B33-4487-99DF-4E7E23CB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F7824-3F48-4F05-8F8C-16161583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672DC-4E90-4585-961E-06FD7572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847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333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Branch from prod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710F3-83CC-496A-B2B1-021D6E69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1847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335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Fix +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01B8D-A3F3-4963-B65F-951E5490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1847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Merge to prod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FA65F-2522-41B0-B4BC-10EC4CCA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428750"/>
            <a:ext cx="18478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Back-merge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17526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276850" y="17526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29550" y="175260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23545-6F9D-46C5-8763-664CB54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prod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prod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-b hotfix/PROJ-789-critical-fix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apply and test fix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add 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commit -m "PROJ-789 fix production issue"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-u origin hotfix/PROJ-789-critical-fix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E71C5-9D13-4184-A4DE-653D4A0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000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after prod merge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main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main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merge hotfix/PROJ-789-critical-fix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also update uat if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BDF16-D6A0-4D21-8F03-C177187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25971-5686-4667-A3C5-FEE84A8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E11D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D9445-0699-48C1-85B8-10B6D2AF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Critical rule: merge every production hotfix back into main to prevent regression.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8C511-C939-40BD-B767-590F2B84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28F12-9527-44BA-99E1-D46D5BD6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151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64517832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4E126-A43B-4ABB-9D27-C1C4CDE1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Command Cheat Sheet and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E26BF-05CD-43C4-BA4D-2C69C98C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this as the daily Git checklist for Developers and Maintainers.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BE26D-B769-4FF9-B49C-02DA759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05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inspect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status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diff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branch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start work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main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pull origin main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-b feature/PROJ-123-short-name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save work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add &lt;file-name&gt;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commit -m "PROJ-123 clear message"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-u origin feature/PROJ-123-short-name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951C0-10ED-48CA-AD3E-3E60F102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905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release / maintain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uat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merge main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uat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checkout prod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merge uat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tag v1.2.0.1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prod --tags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# cleanup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branch -d feature/PROJ-123-short-name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>
                <a:solidFill>
                  <a:srgbClr val="E2E8F0"/>
                </a:solidFill>
                <a:latin typeface="Cascadia Mono"/>
                <a:ea typeface="Cascadia Mono"/>
                <a:cs typeface="Cascadia Mono"/>
              </a:rPr>
              <a:t>git push origin --delete feature/PROJ-123-short-name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A5B7C-B484-485D-BA07-1F8425C9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2362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Developers work only on isolated task branches.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610EB-336B-44C9-A054-34C51CA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67350"/>
            <a:ext cx="2362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1FAE5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Maintainers approve, validate, and merge.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D1B14-BCF2-46D2-A7A2-61130EC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67350"/>
            <a:ext cx="2362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Protected branches require review and passing pipeline.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07950-AEAD-4B0D-B939-2115334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362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FFE4E6"/>
            </a:solidFill>
            <a:prstDash val="solid"/>
          </a:ln>
        </p:spPr>
        <p:txBody>
          <a:bodyPr xmlns:a="http://schemas.openxmlformats.org/drawingml/2006/main" lIns="95250" tIns="28575" rIns="9525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Keep branches small, versioned, and traceable.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B8334-1976-4368-8F06-1084678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 branches, clear reviews, safer releases.</a:t>
            </a:r>
          </a:p>
        </p:txBody>
      </p:sp>
    </p:spTree>
    <p:extLst>
      <p:ext uri="{BB962C8B-B14F-4D97-AF65-F5344CB8AC3E}">
        <p14:creationId xmlns:p14="http://schemas.microsoft.com/office/powerpoint/2010/main" val="1343866334"/>
      </p:ext>
    </p:extLst>
  </p:cSld>
  <p:transition spd="med" advClick="1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3A234-60AC-4659-9A05-97D02C1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TEAM GIT GUIDELINE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F8B0C-0C1C-4BC6-85DF-A8C156F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96666-D8F7-4222-B7BA-4BE424B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Thank you for your attention and commitment to a clean, review-driven Git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4C5A9-41C3-4E0E-924E-29F4DA9F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0970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66DB6-B76F-42EF-A946-FD7DE7C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 &amp;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ECF5F-13CB-43DF-805F-56FB4678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DBFE"/>
                </a:solidFill>
                <a:latin typeface="Aptos"/>
                <a:ea typeface="Aptos"/>
                <a:cs typeface="Aptos"/>
              </a:rPr>
              <a:t>Your questions and improvement suggestions are welcome.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D9EA3-1355-4768-9C95-3DFA5C62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3370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13335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4275E-45F0-49E3-B41F-12C42A58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DD7E4-EB38-4A3F-855B-47510B2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BBF7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BF7D0"/>
                </a:solidFill>
                <a:latin typeface="Aptos"/>
                <a:ea typeface="Aptos"/>
                <a:cs typeface="Aptos"/>
              </a:rPr>
              <a:t>Apply this workflow consistently across every repository.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1D0F5-B193-4DF1-A3C4-091B0CDF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 branches, clear reviews, safer releases.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C026A-8852-4983-AA8C-81D0BAB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27719748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2026-06-30T03:36:33.4310000Z</dcterms:created>
  <dcterms:modified xsi:type="dcterms:W3CDTF">2026-06-30T03:36:33.4310000Z</dcterms:modified>
</coreProperties>
</file>